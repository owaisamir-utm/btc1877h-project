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bject Sans Bold" charset="1" panose="00000300000000000000"/>
      <p:regular r:id="rId25"/>
    </p:embeddedFont>
    <p:embeddedFont>
      <p:font typeface="Object Sans" charset="1" panose="00000300000000000000"/>
      <p:regular r:id="rId26"/>
    </p:embeddedFont>
    <p:embeddedFont>
      <p:font typeface="Object Sans Italics" charset="1" panose="000003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used Kaplan–Meier curves to visualize unadjusted 12-month survival across different transfusion levels. The KM method is appropriate here because patients die at different times, and many are censored at 12 months.</a:t>
            </a:r>
          </a:p>
          <a:p>
            <a:r>
              <a:rPr lang="en-US"/>
              <a:t/>
            </a:r>
          </a:p>
          <a:p>
            <a:r>
              <a:rPr lang="en-US"/>
              <a:t>The log-rank p-value of 0.6 tells us there is no statistically significant difference in survival between groups.</a:t>
            </a:r>
          </a:p>
          <a:p>
            <a:r>
              <a:rPr lang="en-US"/>
              <a:t/>
            </a:r>
          </a:p>
          <a:p>
            <a:r>
              <a:rPr lang="en-US"/>
              <a:t>That said, visually, a few trends are worth noting—even if they’re not significant.</a:t>
            </a:r>
          </a:p>
          <a:p>
            <a:r>
              <a:rPr lang="en-US"/>
              <a:t/>
            </a:r>
          </a:p>
          <a:p>
            <a:r>
              <a:rPr lang="en-US"/>
              <a:t>The moderate transfusion group appears to have slightly lower early survival, while the no-transfusion group trends slightly higher. Interestingly, the high transfusion group had no deaths, though this group was very small (n=8), so we cannot overinterpret it.</a:t>
            </a:r>
          </a:p>
          <a:p>
            <a:r>
              <a:rPr lang="en-US"/>
              <a:t/>
            </a:r>
          </a:p>
          <a:p>
            <a:r>
              <a:rPr lang="en-US"/>
              <a:t>These trends should be viewed as descriptive patterns rather than real associations, and they highlight areas where larger studies could explore whether certain transfusion ranges behave differently.</a:t>
            </a:r>
          </a:p>
          <a:p>
            <a:r>
              <a:rPr lang="en-US"/>
              <a:t/>
            </a:r>
          </a:p>
          <a:p>
            <a:r>
              <a:rPr lang="en-US"/>
              <a:t>Overall, the KM curves suggest that transfusion volume does not meaningfully change 12-month survival in this cohort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 test whether transfusion independently affects mortality, we used a Cox proportional hazards model. Cox modeling is appropriate here because it estimates the relative risk of death over time while adjusting for confounders.</a:t>
            </a:r>
          </a:p>
          <a:p>
            <a:r>
              <a:rPr lang="en-US"/>
              <a:t/>
            </a:r>
          </a:p>
          <a:p>
            <a:r>
              <a:rPr lang="en-US"/>
              <a:t>Our exposure was RBC transfusion volume, treated as a continuous variable so we could evaluate the effect of each additional unit. We adjusted for age, LAS score, high-risk status, and gender because these factors influence both transfusion decisions and mortality risk.</a:t>
            </a:r>
          </a:p>
          <a:p>
            <a:r>
              <a:rPr lang="en-US"/>
              <a:t/>
            </a:r>
          </a:p>
          <a:p>
            <a:r>
              <a:rPr lang="en-US"/>
              <a:t>The hazard ratio for transfusion was 0.93, meaning each additional unit was associated with a 7% lower risk of death, though this was not statistically significant. None of the covariates reached significance, which likely reflects the low number of deaths—only 21 events in total.</a:t>
            </a:r>
          </a:p>
          <a:p>
            <a:r>
              <a:rPr lang="en-US"/>
              <a:t/>
            </a:r>
          </a:p>
          <a:p>
            <a:r>
              <a:rPr lang="en-US"/>
              <a:t>Together, the adjusted model supports the same conclusion as the KM curves: transfusion volume does not appear to worsen 12-month survival.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011" y="2897884"/>
            <a:ext cx="16165977" cy="336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b="true" sz="9999" spc="-70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Exploring Blood Transfusions and Outcomes of Lung Transplant Patient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61625" y="8026100"/>
            <a:ext cx="5900337" cy="79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Agata Wolochacz, Avery Fitzpatrick, Aya Finkelstein, Nina He and Owais Amir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61625" y="7667612"/>
            <a:ext cx="590033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Presented By Group 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720206"/>
            <a:ext cx="16042779" cy="1149350"/>
            <a:chOff x="0" y="0"/>
            <a:chExt cx="21390371" cy="15324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11200"/>
              <a:ext cx="21390371" cy="821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sz="5000" spc="-400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TEAM  PROJECT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578685" y="-19050"/>
              <a:ext cx="7867116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BTC1877H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803969" y="1888606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6943415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LUNG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TRANSPLANTS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049" y="9881672"/>
            <a:ext cx="8228149" cy="28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0" indent="-86360" lvl="1">
              <a:lnSpc>
                <a:spcPts val="1120"/>
              </a:lnSpc>
              <a:spcBef>
                <a:spcPct val="0"/>
              </a:spcBef>
              <a:buAutoNum type="arabicPeriod" startAt="1"/>
            </a:pPr>
            <a:r>
              <a:rPr lang="en-US" sz="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Oechslin</a:t>
            </a:r>
            <a:r>
              <a:rPr lang="en-US" sz="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P, Zalunardo MP, Inci I, et al. Established and potential predictors of blood loss during lung transplant surgery. J Thorac Dis. 2018;10(6):3845-3848.</a:t>
            </a:r>
          </a:p>
          <a:p>
            <a:pPr algn="l" marL="172720" indent="-86360" lvl="1">
              <a:lnSpc>
                <a:spcPts val="1120"/>
              </a:lnSpc>
              <a:spcBef>
                <a:spcPct val="0"/>
              </a:spcBef>
              <a:buAutoNum type="arabicPeriod" startAt="1"/>
            </a:pPr>
            <a:r>
              <a:rPr lang="en-US" sz="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Siddiqui AS, Shakil J. Impact of blood products transfusion on patients in the immediate post-lung transplant period: a cohort study. Ann Transplant. 2024;29:e943652.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60540" y="3170935"/>
            <a:ext cx="600028" cy="780524"/>
          </a:xfrm>
          <a:custGeom>
            <a:avLst/>
            <a:gdLst/>
            <a:ahLst/>
            <a:cxnLst/>
            <a:rect r="r" b="b" t="t" l="l"/>
            <a:pathLst>
              <a:path h="780524" w="600028">
                <a:moveTo>
                  <a:pt x="0" y="0"/>
                </a:moveTo>
                <a:lnTo>
                  <a:pt x="600028" y="0"/>
                </a:lnTo>
                <a:lnTo>
                  <a:pt x="600028" y="780523"/>
                </a:lnTo>
                <a:lnTo>
                  <a:pt x="0" y="780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60540" y="4220999"/>
            <a:ext cx="600028" cy="780524"/>
          </a:xfrm>
          <a:custGeom>
            <a:avLst/>
            <a:gdLst/>
            <a:ahLst/>
            <a:cxnLst/>
            <a:rect r="r" b="b" t="t" l="l"/>
            <a:pathLst>
              <a:path h="780524" w="600028">
                <a:moveTo>
                  <a:pt x="0" y="0"/>
                </a:moveTo>
                <a:lnTo>
                  <a:pt x="600028" y="0"/>
                </a:lnTo>
                <a:lnTo>
                  <a:pt x="600028" y="780524"/>
                </a:lnTo>
                <a:lnTo>
                  <a:pt x="0" y="780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60540" y="5256262"/>
            <a:ext cx="600028" cy="780524"/>
          </a:xfrm>
          <a:custGeom>
            <a:avLst/>
            <a:gdLst/>
            <a:ahLst/>
            <a:cxnLst/>
            <a:rect r="r" b="b" t="t" l="l"/>
            <a:pathLst>
              <a:path h="780524" w="600028">
                <a:moveTo>
                  <a:pt x="0" y="0"/>
                </a:moveTo>
                <a:lnTo>
                  <a:pt x="600028" y="0"/>
                </a:lnTo>
                <a:lnTo>
                  <a:pt x="600028" y="780524"/>
                </a:lnTo>
                <a:lnTo>
                  <a:pt x="0" y="780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3957" y="4014334"/>
            <a:ext cx="2077097" cy="1190712"/>
            <a:chOff x="0" y="0"/>
            <a:chExt cx="490919" cy="2814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0919" cy="281423"/>
            </a:xfrm>
            <a:custGeom>
              <a:avLst/>
              <a:gdLst/>
              <a:ahLst/>
              <a:cxnLst/>
              <a:rect r="r" b="b" t="t" l="l"/>
              <a:pathLst>
                <a:path h="281423" w="490919">
                  <a:moveTo>
                    <a:pt x="0" y="0"/>
                  </a:moveTo>
                  <a:lnTo>
                    <a:pt x="490919" y="0"/>
                  </a:lnTo>
                  <a:lnTo>
                    <a:pt x="490919" y="281423"/>
                  </a:lnTo>
                  <a:lnTo>
                    <a:pt x="0" y="281423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0919" cy="329048"/>
            </a:xfrm>
            <a:prstGeom prst="rect">
              <a:avLst/>
            </a:prstGeom>
          </p:spPr>
          <p:txBody>
            <a:bodyPr anchor="ctr" rtlCol="false" tIns="56609" lIns="56609" bIns="56609" rIns="56609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End-Stage Lung Disease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961554" y="4601082"/>
            <a:ext cx="96795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 flipH="true" flipV="false" rot="0">
            <a:off x="12889213" y="3008313"/>
            <a:ext cx="1197029" cy="3202753"/>
          </a:xfrm>
          <a:custGeom>
            <a:avLst/>
            <a:gdLst/>
            <a:ahLst/>
            <a:cxnLst/>
            <a:rect r="r" b="b" t="t" l="l"/>
            <a:pathLst>
              <a:path h="3202753" w="1197029">
                <a:moveTo>
                  <a:pt x="1197028" y="0"/>
                </a:moveTo>
                <a:lnTo>
                  <a:pt x="0" y="0"/>
                </a:lnTo>
                <a:lnTo>
                  <a:pt x="0" y="3202753"/>
                </a:lnTo>
                <a:lnTo>
                  <a:pt x="1197028" y="3202753"/>
                </a:lnTo>
                <a:lnTo>
                  <a:pt x="11970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067497" y="4039593"/>
            <a:ext cx="3438986" cy="1122978"/>
            <a:chOff x="0" y="0"/>
            <a:chExt cx="812800" cy="2654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265414"/>
            </a:xfrm>
            <a:custGeom>
              <a:avLst/>
              <a:gdLst/>
              <a:ahLst/>
              <a:cxnLst/>
              <a:rect r="r" b="b" t="t" l="l"/>
              <a:pathLst>
                <a:path h="2654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5414"/>
                  </a:lnTo>
                  <a:lnTo>
                    <a:pt x="0" y="265414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313039"/>
            </a:xfrm>
            <a:prstGeom prst="rect">
              <a:avLst/>
            </a:prstGeom>
          </p:spPr>
          <p:txBody>
            <a:bodyPr anchor="ctr" rtlCol="false" tIns="56609" lIns="56609" bIns="56609" rIns="56609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Lung Transplant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706508" y="4620132"/>
            <a:ext cx="14374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9312242" y="4039593"/>
            <a:ext cx="3438986" cy="1165452"/>
            <a:chOff x="0" y="0"/>
            <a:chExt cx="812800" cy="275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275453"/>
            </a:xfrm>
            <a:custGeom>
              <a:avLst/>
              <a:gdLst/>
              <a:ahLst/>
              <a:cxnLst/>
              <a:rect r="r" b="b" t="t" l="l"/>
              <a:pathLst>
                <a:path h="2754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5453"/>
                  </a:lnTo>
                  <a:lnTo>
                    <a:pt x="0" y="275453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323078"/>
            </a:xfrm>
            <a:prstGeom prst="rect">
              <a:avLst/>
            </a:prstGeom>
          </p:spPr>
          <p:txBody>
            <a:bodyPr anchor="ctr" rtlCol="false" tIns="56609" lIns="56609" bIns="56609" rIns="56609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Blood Transfusions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true" flipV="true" rot="5400000">
            <a:off x="10433221" y="4361111"/>
            <a:ext cx="1197029" cy="3202753"/>
          </a:xfrm>
          <a:custGeom>
            <a:avLst/>
            <a:gdLst/>
            <a:ahLst/>
            <a:cxnLst/>
            <a:rect r="r" b="b" t="t" l="l"/>
            <a:pathLst>
              <a:path h="3202753" w="1197029">
                <a:moveTo>
                  <a:pt x="1197029" y="3202752"/>
                </a:moveTo>
                <a:lnTo>
                  <a:pt x="0" y="3202752"/>
                </a:lnTo>
                <a:lnTo>
                  <a:pt x="0" y="0"/>
                </a:lnTo>
                <a:lnTo>
                  <a:pt x="1197029" y="0"/>
                </a:lnTo>
                <a:lnTo>
                  <a:pt x="1197029" y="32027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763603" y="6656529"/>
            <a:ext cx="1739017" cy="1165452"/>
            <a:chOff x="0" y="0"/>
            <a:chExt cx="411014" cy="2754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014" cy="275453"/>
            </a:xfrm>
            <a:custGeom>
              <a:avLst/>
              <a:gdLst/>
              <a:ahLst/>
              <a:cxnLst/>
              <a:rect r="r" b="b" t="t" l="l"/>
              <a:pathLst>
                <a:path h="275453" w="411014">
                  <a:moveTo>
                    <a:pt x="0" y="0"/>
                  </a:moveTo>
                  <a:lnTo>
                    <a:pt x="411014" y="0"/>
                  </a:lnTo>
                  <a:lnTo>
                    <a:pt x="411014" y="275453"/>
                  </a:lnTo>
                  <a:lnTo>
                    <a:pt x="0" y="275453"/>
                  </a:ln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1014" cy="323078"/>
            </a:xfrm>
            <a:prstGeom prst="rect">
              <a:avLst/>
            </a:prstGeom>
          </p:spPr>
          <p:txBody>
            <a:bodyPr anchor="ctr" rtlCol="false" tIns="56609" lIns="56609" bIns="56609" rIns="56609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Massive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Transfusions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37878" y="6656529"/>
            <a:ext cx="1784962" cy="1165452"/>
            <a:chOff x="0" y="0"/>
            <a:chExt cx="421873" cy="2754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1873" cy="275453"/>
            </a:xfrm>
            <a:custGeom>
              <a:avLst/>
              <a:gdLst/>
              <a:ahLst/>
              <a:cxnLst/>
              <a:rect r="r" b="b" t="t" l="l"/>
              <a:pathLst>
                <a:path h="275453" w="421873">
                  <a:moveTo>
                    <a:pt x="0" y="0"/>
                  </a:moveTo>
                  <a:lnTo>
                    <a:pt x="421873" y="0"/>
                  </a:lnTo>
                  <a:lnTo>
                    <a:pt x="421873" y="275453"/>
                  </a:lnTo>
                  <a:lnTo>
                    <a:pt x="0" y="275453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21873" cy="323078"/>
            </a:xfrm>
            <a:prstGeom prst="rect">
              <a:avLst/>
            </a:prstGeom>
          </p:spPr>
          <p:txBody>
            <a:bodyPr anchor="ctr" rtlCol="false" tIns="56609" lIns="56609" bIns="56609" rIns="56609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Regular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Transfusions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947017" y="3205096"/>
            <a:ext cx="1696412" cy="74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ICU length of stay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47017" y="4255160"/>
            <a:ext cx="1696412" cy="74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Overall mortality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47017" y="5290424"/>
            <a:ext cx="2718136" cy="74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Risk of primary graft dysfunction (PGD)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9411309" y="7955331"/>
            <a:ext cx="0" cy="4283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12633112" y="7955331"/>
            <a:ext cx="0" cy="4283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8335198" y="8581302"/>
            <a:ext cx="2190322" cy="74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11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&lt; 10 units of RBC within 24 hours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8364" y="8581302"/>
            <a:ext cx="2389495" cy="74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11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&gt; 10 units of RBC within 24 hours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30308" y="3991968"/>
            <a:ext cx="1605734" cy="5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 b="true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Perioperative</a:t>
            </a:r>
          </a:p>
          <a:p>
            <a:pPr algn="ctr">
              <a:lnSpc>
                <a:spcPts val="2238"/>
              </a:lnSpc>
            </a:pPr>
            <a:r>
              <a:rPr lang="en-US" b="true" sz="159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bleeding</a:t>
            </a:r>
          </a:p>
        </p:txBody>
      </p:sp>
    </p:spTree>
  </p:cSld>
  <p:clrMapOvr>
    <a:masterClrMapping/>
  </p:clrMapOvr>
  <p:transition spd="slow">
    <p:push dir="d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6943415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MASSIVE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TRANSFUSIONS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31772" y="8533768"/>
            <a:ext cx="14624456" cy="10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>
                <a:solidFill>
                  <a:srgbClr val="292B2D"/>
                </a:solidFill>
                <a:latin typeface="Object Sans Italics"/>
                <a:ea typeface="Object Sans Italics"/>
                <a:cs typeface="Object Sans Italics"/>
                <a:sym typeface="Object Sans Italics"/>
              </a:rPr>
              <a:t>Those with massive transfusions have significantly worse overall outcomes compared to regular transfusions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17656" y="4864433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Rates of PGD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17656" y="2904557"/>
            <a:ext cx="2474596" cy="1830414"/>
            <a:chOff x="0" y="0"/>
            <a:chExt cx="741696" cy="548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11613" y="3124439"/>
            <a:ext cx="14866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5.9% </a:t>
            </a: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 32.7%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6702" y="4864433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Median time in ICU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06702" y="2904557"/>
            <a:ext cx="2474596" cy="1830414"/>
            <a:chOff x="0" y="0"/>
            <a:chExt cx="741696" cy="5486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38813" y="3124439"/>
            <a:ext cx="161037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20 days </a:t>
            </a: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40 days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95748" y="4864433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One-year mortality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95748" y="2904557"/>
            <a:ext cx="2474596" cy="1830414"/>
            <a:chOff x="0" y="0"/>
            <a:chExt cx="741696" cy="5486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189705" y="3124439"/>
            <a:ext cx="14866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7.3%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 22.2%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17656" y="7907638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Need for reinterventions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117656" y="5947762"/>
            <a:ext cx="2474596" cy="1830414"/>
            <a:chOff x="0" y="0"/>
            <a:chExt cx="741696" cy="5486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611613" y="6167645"/>
            <a:ext cx="14866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8.7%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 62.6%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06702" y="7907638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Need for dialysis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06702" y="5947762"/>
            <a:ext cx="2474596" cy="1830414"/>
            <a:chOff x="0" y="0"/>
            <a:chExt cx="741696" cy="5486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400659" y="6167645"/>
            <a:ext cx="14866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4.5% </a:t>
            </a: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 26.9%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95748" y="7907638"/>
            <a:ext cx="2474596" cy="2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Need for tracheostomies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695748" y="5947762"/>
            <a:ext cx="2474596" cy="1830414"/>
            <a:chOff x="0" y="0"/>
            <a:chExt cx="741696" cy="5486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189705" y="6167645"/>
            <a:ext cx="14866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9.5% </a:t>
            </a:r>
            <a:r>
              <a:rPr lang="en-US" sz="30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vs</a:t>
            </a:r>
            <a:r>
              <a:rPr lang="en-US" sz="30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 30.4%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692" y="10005364"/>
            <a:ext cx="10701343" cy="15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0" indent="-86360" lvl="1">
              <a:lnSpc>
                <a:spcPts val="1120"/>
              </a:lnSpc>
              <a:spcBef>
                <a:spcPct val="0"/>
              </a:spcBef>
              <a:buAutoNum type="arabicPeriod" startAt="1"/>
            </a:pPr>
            <a:r>
              <a:rPr lang="en-US" sz="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Wu KA, Kim JK, Rosser MG, et al. The impact of bleeding on outcomes following lung transplantation: a retrospective analysis using the universal definition of perioperative bleeding. J Cardiothorac Surg. 2024;19(1):466.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6943415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RESEARCH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9144000" y="2198842"/>
            <a:ext cx="0" cy="7327631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944001"/>
            <a:ext cx="6583574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What are the </a:t>
            </a:r>
            <a:r>
              <a:rPr lang="en-US" b="true" sz="25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characteristics </a:t>
            </a: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of patients that require transfusions and what are the factors influencing the </a:t>
            </a:r>
            <a:r>
              <a:rPr lang="en-US" b="true" sz="25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need</a:t>
            </a: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and </a:t>
            </a:r>
            <a:r>
              <a:rPr lang="en-US" b="true" sz="25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amount</a:t>
            </a: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of transfusions?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0681" y="2944001"/>
            <a:ext cx="684219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What is the impact of transfusion on patient </a:t>
            </a:r>
            <a:r>
              <a:rPr lang="en-US" b="true" sz="25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outcomes</a:t>
            </a: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, including </a:t>
            </a:r>
            <a:r>
              <a:rPr lang="en-US" b="true" sz="25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mortality</a:t>
            </a:r>
            <a:r>
              <a:rPr lang="en-US" sz="2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52" y="5105400"/>
            <a:ext cx="646080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i. Who needs ANY transfusion?</a:t>
            </a:r>
          </a:p>
          <a:p>
            <a:pPr algn="l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7152" y="6360717"/>
            <a:ext cx="646080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ii. Who need MASSIVE transfusion?</a:t>
            </a:r>
          </a:p>
          <a:p>
            <a:pPr algn="l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Logistic Regression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7152" y="7619287"/>
            <a:ext cx="646080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iii. What influences the AMOUNT of transfusion?</a:t>
            </a:r>
          </a:p>
          <a:p>
            <a:pPr algn="l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Linear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2295" y="4938077"/>
            <a:ext cx="639896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i. Does receiving more blood worsen survival?</a:t>
            </a:r>
          </a:p>
          <a:p>
            <a:pPr algn="l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Survival Analysis (KM + CoxPH)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2295" y="6360717"/>
            <a:ext cx="639896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ii. What influences the length of stay in ICU?</a:t>
            </a:r>
          </a:p>
          <a:p>
            <a:pPr algn="l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Linear Regression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8437197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SELECTED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PREDICTORS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35218" y="2738469"/>
            <a:ext cx="2474596" cy="2590451"/>
            <a:chOff x="0" y="0"/>
            <a:chExt cx="3299462" cy="34539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638568"/>
              <a:ext cx="3299462" cy="815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Controlling for any age-related effects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Age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Standalone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14466" y="2738469"/>
            <a:ext cx="2474596" cy="2590451"/>
            <a:chOff x="0" y="0"/>
            <a:chExt cx="3299462" cy="345393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638568"/>
              <a:ext cx="3299462" cy="815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Lung transplant type: bilateral or single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Type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Standalone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3714" y="2738469"/>
            <a:ext cx="2474596" cy="2590451"/>
            <a:chOff x="0" y="0"/>
            <a:chExt cx="3299462" cy="345393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2638568"/>
              <a:ext cx="3299462" cy="815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Control for baseline anemia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Pre Hb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Standalone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8186" y="2738469"/>
            <a:ext cx="2474596" cy="2904776"/>
            <a:chOff x="0" y="0"/>
            <a:chExt cx="3299462" cy="3873035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638568"/>
              <a:ext cx="3299462" cy="1234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Higher scores indicate greater disease severity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LAS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Standalone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5480185" y="5862657"/>
            <a:ext cx="7327631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3580279" y="6367482"/>
            <a:ext cx="2474596" cy="3219101"/>
            <a:chOff x="0" y="0"/>
            <a:chExt cx="3299462" cy="4292135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2638568"/>
              <a:ext cx="3299462" cy="1653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Captures high surgical complexity: redo transplant, ECLS use, CF, and PH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Risk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Compound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359527" y="6367482"/>
            <a:ext cx="2474596" cy="2904776"/>
            <a:chOff x="0" y="0"/>
            <a:chExt cx="3299462" cy="3873035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2638568"/>
              <a:ext cx="3299462" cy="1234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Calculated from height and weight data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83739" y="340356"/>
              <a:ext cx="2531984" cy="82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BMI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Compound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38775" y="6367482"/>
            <a:ext cx="2474596" cy="3533426"/>
            <a:chOff x="0" y="0"/>
            <a:chExt cx="3299462" cy="4711235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2638568"/>
              <a:ext cx="3299462" cy="2072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8"/>
                </a:lnSpc>
              </a:pPr>
              <a:r>
                <a:rPr lang="en-US" sz="17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 Baseline coagulopathy:  INR &gt; 1.5 or platelets &lt; 150 predisposed to hemorrhage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0" y="0"/>
              <a:ext cx="3299462" cy="2440552"/>
              <a:chOff x="0" y="0"/>
              <a:chExt cx="741696" cy="5486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42758" lIns="42758" bIns="42758" rIns="42758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88577" y="340356"/>
              <a:ext cx="3122307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8"/>
                </a:lnSpc>
              </a:pPr>
              <a:r>
                <a:rPr lang="en-US" sz="404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Bleeding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83739" y="1259217"/>
              <a:ext cx="2531984" cy="425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02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Compound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923248" y="8336883"/>
            <a:ext cx="2474596" cy="93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Patient received any blood product within 24 hours of operation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923248" y="6367482"/>
            <a:ext cx="2474596" cy="1830414"/>
            <a:chOff x="0" y="0"/>
            <a:chExt cx="741696" cy="5486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1696" cy="548619"/>
            </a:xfrm>
            <a:custGeom>
              <a:avLst/>
              <a:gdLst/>
              <a:ahLst/>
              <a:cxnLst/>
              <a:rect r="r" b="b" t="t" l="l"/>
              <a:pathLst>
                <a:path h="548619" w="741696">
                  <a:moveTo>
                    <a:pt x="0" y="0"/>
                  </a:moveTo>
                  <a:lnTo>
                    <a:pt x="741696" y="0"/>
                  </a:lnTo>
                  <a:lnTo>
                    <a:pt x="741696" y="548619"/>
                  </a:lnTo>
                  <a:lnTo>
                    <a:pt x="0" y="548619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741696" cy="615294"/>
            </a:xfrm>
            <a:prstGeom prst="rect">
              <a:avLst/>
            </a:prstGeom>
          </p:spPr>
          <p:txBody>
            <a:bodyPr anchor="ctr" rtlCol="false" tIns="42758" lIns="42758" bIns="42758" rIns="42758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638978" y="6687830"/>
            <a:ext cx="3043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940" b="true">
                <a:solidFill>
                  <a:srgbClr val="F6F4F1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Transfusion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11052" y="7307132"/>
            <a:ext cx="1898988" cy="32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4"/>
              </a:lnSpc>
            </a:pPr>
            <a:r>
              <a:rPr lang="en-US" sz="2020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Binary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4376" y="0"/>
            <a:ext cx="6133624" cy="10287000"/>
          </a:xfrm>
          <a:custGeom>
            <a:avLst/>
            <a:gdLst/>
            <a:ahLst/>
            <a:cxnLst/>
            <a:rect r="r" b="b" t="t" l="l"/>
            <a:pathLst>
              <a:path h="10287000" w="6133624">
                <a:moveTo>
                  <a:pt x="0" y="0"/>
                </a:moveTo>
                <a:lnTo>
                  <a:pt x="6133624" y="0"/>
                </a:lnTo>
                <a:lnTo>
                  <a:pt x="61336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33108" y="2783932"/>
            <a:ext cx="624907" cy="261808"/>
            <a:chOff x="0" y="0"/>
            <a:chExt cx="164585" cy="68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85" cy="68954"/>
            </a:xfrm>
            <a:custGeom>
              <a:avLst/>
              <a:gdLst/>
              <a:ahLst/>
              <a:cxnLst/>
              <a:rect r="r" b="b" t="t" l="l"/>
              <a:pathLst>
                <a:path h="68954" w="164585">
                  <a:moveTo>
                    <a:pt x="34477" y="0"/>
                  </a:moveTo>
                  <a:lnTo>
                    <a:pt x="130108" y="0"/>
                  </a:lnTo>
                  <a:cubicBezTo>
                    <a:pt x="149149" y="0"/>
                    <a:pt x="164585" y="15436"/>
                    <a:pt x="164585" y="34477"/>
                  </a:cubicBezTo>
                  <a:lnTo>
                    <a:pt x="164585" y="34477"/>
                  </a:lnTo>
                  <a:cubicBezTo>
                    <a:pt x="164585" y="53518"/>
                    <a:pt x="149149" y="68954"/>
                    <a:pt x="130108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4585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62050"/>
            <a:ext cx="8437197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BASELINE 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CHARACTERISTICS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873218" y="2783932"/>
            <a:ext cx="756574" cy="261808"/>
            <a:chOff x="0" y="0"/>
            <a:chExt cx="199262" cy="68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262" cy="68954"/>
            </a:xfrm>
            <a:custGeom>
              <a:avLst/>
              <a:gdLst/>
              <a:ahLst/>
              <a:cxnLst/>
              <a:rect r="r" b="b" t="t" l="l"/>
              <a:pathLst>
                <a:path h="68954" w="199262">
                  <a:moveTo>
                    <a:pt x="34477" y="0"/>
                  </a:moveTo>
                  <a:lnTo>
                    <a:pt x="164786" y="0"/>
                  </a:lnTo>
                  <a:cubicBezTo>
                    <a:pt x="173929" y="0"/>
                    <a:pt x="182699" y="3632"/>
                    <a:pt x="189164" y="10098"/>
                  </a:cubicBezTo>
                  <a:cubicBezTo>
                    <a:pt x="195630" y="16564"/>
                    <a:pt x="199262" y="25333"/>
                    <a:pt x="199262" y="34477"/>
                  </a:cubicBezTo>
                  <a:lnTo>
                    <a:pt x="199262" y="34477"/>
                  </a:lnTo>
                  <a:cubicBezTo>
                    <a:pt x="199262" y="53518"/>
                    <a:pt x="183827" y="68954"/>
                    <a:pt x="164786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9262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81396" y="7554153"/>
            <a:ext cx="931285" cy="261808"/>
            <a:chOff x="0" y="0"/>
            <a:chExt cx="245277" cy="689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277" cy="68954"/>
            </a:xfrm>
            <a:custGeom>
              <a:avLst/>
              <a:gdLst/>
              <a:ahLst/>
              <a:cxnLst/>
              <a:rect r="r" b="b" t="t" l="l"/>
              <a:pathLst>
                <a:path h="68954" w="245277">
                  <a:moveTo>
                    <a:pt x="34477" y="0"/>
                  </a:moveTo>
                  <a:lnTo>
                    <a:pt x="210800" y="0"/>
                  </a:lnTo>
                  <a:cubicBezTo>
                    <a:pt x="219944" y="0"/>
                    <a:pt x="228713" y="3632"/>
                    <a:pt x="235179" y="10098"/>
                  </a:cubicBezTo>
                  <a:cubicBezTo>
                    <a:pt x="241644" y="16564"/>
                    <a:pt x="245277" y="25333"/>
                    <a:pt x="245277" y="34477"/>
                  </a:cubicBezTo>
                  <a:lnTo>
                    <a:pt x="245277" y="34477"/>
                  </a:lnTo>
                  <a:cubicBezTo>
                    <a:pt x="245277" y="53518"/>
                    <a:pt x="229841" y="68954"/>
                    <a:pt x="210800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5277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85703" y="7554153"/>
            <a:ext cx="963428" cy="261808"/>
            <a:chOff x="0" y="0"/>
            <a:chExt cx="253742" cy="689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742" cy="68954"/>
            </a:xfrm>
            <a:custGeom>
              <a:avLst/>
              <a:gdLst/>
              <a:ahLst/>
              <a:cxnLst/>
              <a:rect r="r" b="b" t="t" l="l"/>
              <a:pathLst>
                <a:path h="68954" w="253742">
                  <a:moveTo>
                    <a:pt x="34477" y="0"/>
                  </a:moveTo>
                  <a:lnTo>
                    <a:pt x="219266" y="0"/>
                  </a:lnTo>
                  <a:cubicBezTo>
                    <a:pt x="238307" y="0"/>
                    <a:pt x="253742" y="15436"/>
                    <a:pt x="253742" y="34477"/>
                  </a:cubicBezTo>
                  <a:lnTo>
                    <a:pt x="253742" y="34477"/>
                  </a:lnTo>
                  <a:cubicBezTo>
                    <a:pt x="253742" y="53518"/>
                    <a:pt x="238307" y="68954"/>
                    <a:pt x="219266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53742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533108" y="4737954"/>
            <a:ext cx="688080" cy="261808"/>
            <a:chOff x="0" y="0"/>
            <a:chExt cx="181223" cy="689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223" cy="68954"/>
            </a:xfrm>
            <a:custGeom>
              <a:avLst/>
              <a:gdLst/>
              <a:ahLst/>
              <a:cxnLst/>
              <a:rect r="r" b="b" t="t" l="l"/>
              <a:pathLst>
                <a:path h="68954" w="181223">
                  <a:moveTo>
                    <a:pt x="34477" y="0"/>
                  </a:moveTo>
                  <a:lnTo>
                    <a:pt x="146746" y="0"/>
                  </a:lnTo>
                  <a:cubicBezTo>
                    <a:pt x="165787" y="0"/>
                    <a:pt x="181223" y="15436"/>
                    <a:pt x="181223" y="34477"/>
                  </a:cubicBezTo>
                  <a:lnTo>
                    <a:pt x="181223" y="34477"/>
                  </a:lnTo>
                  <a:cubicBezTo>
                    <a:pt x="181223" y="53518"/>
                    <a:pt x="165787" y="68954"/>
                    <a:pt x="146746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1223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873218" y="4737954"/>
            <a:ext cx="852045" cy="261808"/>
            <a:chOff x="0" y="0"/>
            <a:chExt cx="224407" cy="689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407" cy="68954"/>
            </a:xfrm>
            <a:custGeom>
              <a:avLst/>
              <a:gdLst/>
              <a:ahLst/>
              <a:cxnLst/>
              <a:rect r="r" b="b" t="t" l="l"/>
              <a:pathLst>
                <a:path h="68954" w="224407">
                  <a:moveTo>
                    <a:pt x="34477" y="0"/>
                  </a:moveTo>
                  <a:lnTo>
                    <a:pt x="189930" y="0"/>
                  </a:lnTo>
                  <a:cubicBezTo>
                    <a:pt x="208971" y="0"/>
                    <a:pt x="224407" y="15436"/>
                    <a:pt x="224407" y="34477"/>
                  </a:cubicBezTo>
                  <a:lnTo>
                    <a:pt x="224407" y="34477"/>
                  </a:lnTo>
                  <a:cubicBezTo>
                    <a:pt x="224407" y="53518"/>
                    <a:pt x="208971" y="68954"/>
                    <a:pt x="189930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24407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453549" y="3436977"/>
            <a:ext cx="767639" cy="261808"/>
            <a:chOff x="0" y="0"/>
            <a:chExt cx="202177" cy="689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177" cy="68954"/>
            </a:xfrm>
            <a:custGeom>
              <a:avLst/>
              <a:gdLst/>
              <a:ahLst/>
              <a:cxnLst/>
              <a:rect r="r" b="b" t="t" l="l"/>
              <a:pathLst>
                <a:path h="68954" w="202177">
                  <a:moveTo>
                    <a:pt x="34477" y="0"/>
                  </a:moveTo>
                  <a:lnTo>
                    <a:pt x="167700" y="0"/>
                  </a:lnTo>
                  <a:cubicBezTo>
                    <a:pt x="186741" y="0"/>
                    <a:pt x="202177" y="15436"/>
                    <a:pt x="202177" y="34477"/>
                  </a:cubicBezTo>
                  <a:lnTo>
                    <a:pt x="202177" y="34477"/>
                  </a:lnTo>
                  <a:cubicBezTo>
                    <a:pt x="202177" y="53518"/>
                    <a:pt x="186741" y="68954"/>
                    <a:pt x="167700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2177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873218" y="3436977"/>
            <a:ext cx="756574" cy="261808"/>
            <a:chOff x="0" y="0"/>
            <a:chExt cx="199262" cy="689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9262" cy="68954"/>
            </a:xfrm>
            <a:custGeom>
              <a:avLst/>
              <a:gdLst/>
              <a:ahLst/>
              <a:cxnLst/>
              <a:rect r="r" b="b" t="t" l="l"/>
              <a:pathLst>
                <a:path h="68954" w="199262">
                  <a:moveTo>
                    <a:pt x="34477" y="0"/>
                  </a:moveTo>
                  <a:lnTo>
                    <a:pt x="164786" y="0"/>
                  </a:lnTo>
                  <a:cubicBezTo>
                    <a:pt x="173929" y="0"/>
                    <a:pt x="182699" y="3632"/>
                    <a:pt x="189164" y="10098"/>
                  </a:cubicBezTo>
                  <a:cubicBezTo>
                    <a:pt x="195630" y="16564"/>
                    <a:pt x="199262" y="25333"/>
                    <a:pt x="199262" y="34477"/>
                  </a:cubicBezTo>
                  <a:lnTo>
                    <a:pt x="199262" y="34477"/>
                  </a:lnTo>
                  <a:cubicBezTo>
                    <a:pt x="199262" y="53518"/>
                    <a:pt x="183827" y="68954"/>
                    <a:pt x="164786" y="68954"/>
                  </a:cubicBezTo>
                  <a:lnTo>
                    <a:pt x="34477" y="68954"/>
                  </a:lnTo>
                  <a:cubicBezTo>
                    <a:pt x="15436" y="68954"/>
                    <a:pt x="0" y="53518"/>
                    <a:pt x="0" y="34477"/>
                  </a:cubicBezTo>
                  <a:lnTo>
                    <a:pt x="0" y="34477"/>
                  </a:lnTo>
                  <a:cubicBezTo>
                    <a:pt x="0" y="15436"/>
                    <a:pt x="15436" y="0"/>
                    <a:pt x="34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99262" cy="11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22498" y="3451135"/>
            <a:ext cx="6340019" cy="397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Key </a:t>
            </a:r>
            <a:r>
              <a:rPr lang="en-US" sz="3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characteristics</a:t>
            </a: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to note:</a:t>
            </a:r>
          </a:p>
          <a:p>
            <a:pPr algn="l" marL="690872" indent="-345436" lvl="1">
              <a:lnSpc>
                <a:spcPts val="639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Repeat Lung Transplant</a:t>
            </a:r>
          </a:p>
          <a:p>
            <a:pPr algn="l" marL="690872" indent="-345436" lvl="1">
              <a:lnSpc>
                <a:spcPts val="639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Intraoperative ECLS</a:t>
            </a:r>
          </a:p>
          <a:p>
            <a:pPr algn="l" marL="690872" indent="-345436" lvl="1">
              <a:lnSpc>
                <a:spcPts val="639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Cystic Fibrosis</a:t>
            </a:r>
          </a:p>
          <a:p>
            <a:pPr algn="l" marL="690872" indent="-345436" lvl="1">
              <a:lnSpc>
                <a:spcPts val="639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ICU LOS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73183"/>
            <a:ext cx="16230600" cy="288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WHAT ARE THE CHARACTERISTICS OF PATIENTS THAT REQUIRE TRANSFUSIONS AND WHAT ARE THE FACTORS INFLUENCING THE NEED AND AMOUNT OF TRANSFUSIONS?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61068"/>
            <a:ext cx="2017216" cy="4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Question 1: 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1272" y="2970613"/>
            <a:ext cx="5788028" cy="5802534"/>
          </a:xfrm>
          <a:custGeom>
            <a:avLst/>
            <a:gdLst/>
            <a:ahLst/>
            <a:cxnLst/>
            <a:rect r="r" b="b" t="t" l="l"/>
            <a:pathLst>
              <a:path h="5802534" w="5788028">
                <a:moveTo>
                  <a:pt x="0" y="0"/>
                </a:moveTo>
                <a:lnTo>
                  <a:pt x="5788028" y="0"/>
                </a:lnTo>
                <a:lnTo>
                  <a:pt x="5788028" y="5802534"/>
                </a:lnTo>
                <a:lnTo>
                  <a:pt x="0" y="5802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532" y="813420"/>
            <a:ext cx="18243666" cy="176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MODEL 1 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MULTIVARIABLE LOGISTIC REGRESSION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THE SCREENING MODEL FOR WHO NEEDS TRANSFUSION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532" y="3151333"/>
            <a:ext cx="7972520" cy="600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Identified risk factors independently associated with any RBC transfusion within 24 hours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8 predictor variables tested simultaneously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Outcome: Any transfusion (≥1 unit RBC) vs. no transfusion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 = 180 patients (107 events, EPV = 13.4)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Assessed multicollinearity of predictors using VIF</a:t>
            </a:r>
          </a:p>
          <a:p>
            <a:pPr algn="l" marL="820419" indent="-273473" lvl="2">
              <a:lnSpc>
                <a:spcPts val="2659"/>
              </a:lnSpc>
              <a:buFont typeface="Arial"/>
              <a:buChar char="⚬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All VIF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factors were under 2 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AUC = 0.885  shows the model discriminates well </a:t>
            </a:r>
          </a:p>
          <a:p>
            <a:pPr algn="l" marL="820419" indent="-273473" lvl="2">
              <a:lnSpc>
                <a:spcPts val="2659"/>
              </a:lnSpc>
              <a:buFont typeface="Arial"/>
              <a:buChar char="⚬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Measure of model fit not claim of furture predictive probability 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244965" y="9125572"/>
            <a:ext cx="6545095" cy="133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Figure 1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Receiver Operating Characteristics (ROC) Curve for the Transfusion Screening Model 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11191445" cy="62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 AND INTERPRETATION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001965" y="3241198"/>
          <a:ext cx="11315700" cy="5725933"/>
        </p:xfrm>
        <a:graphic>
          <a:graphicData uri="http://schemas.openxmlformats.org/drawingml/2006/table">
            <a:tbl>
              <a:tblPr/>
              <a:tblGrid>
                <a:gridCol w="1885950"/>
                <a:gridCol w="1885950"/>
                <a:gridCol w="1885950"/>
                <a:gridCol w="1885950"/>
                <a:gridCol w="1633049"/>
                <a:gridCol w="2138851"/>
              </a:tblGrid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Variable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Coefficient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Odds Ratio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 lower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 upper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6F4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value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1.042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1.082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0.027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Gender*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-0.224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1.935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BMI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-0.109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0.896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0.049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High Risk Patient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2.164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8.705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23.275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&lt;0.001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Preop Hb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0.924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0.952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&lt;0.001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b="true" sz="1500" strike="noStrike" u="non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Baseline </a:t>
                      </a:r>
                      <a:endParaRPr lang="en-US" sz="1100"/>
                    </a:p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en-US" b="true" sz="1500" strike="noStrike" u="non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Coagulopathy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-0.543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0.581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1.897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0.363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Bilateral Type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2.323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10.206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3.122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38.998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&lt;0.001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LAS 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0.986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613849" y="9210675"/>
            <a:ext cx="13576298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Table 1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Multivariable Logistic Regression analysis for Any RBC Transfusion within 24 Hours Post-Transplant 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0010"/>
            <a:ext cx="13576298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The three strongest predictors are bilateral transplant, high-risk patient status, and preoperative hemoglobin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7532" y="813420"/>
            <a:ext cx="18243666" cy="176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MODEL 2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MULTIPLE LOGISTIC REGRESSION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PREDICTORS INFLUENCING MASSIVE TRANSFUSION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578" y="2940525"/>
            <a:ext cx="7310556" cy="74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Identified risk factors independently associated with needing a massive transfusion</a:t>
            </a: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(&gt; 10 RBC units)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8 predictor variables tested: age, gender, BMI, transplant type, high-risk patient indicator, pre-operative hemoglobin, baseline coagulopathy, LAS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Outcome: Massive transfusion vs. no massive transfusion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Assessed multicollinearity of predictors using VIF</a:t>
            </a:r>
          </a:p>
          <a:p>
            <a:pPr algn="l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All VIF</a:t>
            </a: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factors were under 1.8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Estimated intercept: β​=−27.2174 with a p-value of 0.9957.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</p:txBody>
      </p:sp>
      <p:graphicFrame>
        <p:nvGraphicFramePr>
          <p:cNvPr name="Object 4" id="4"/>
          <p:cNvGraphicFramePr/>
          <p:nvPr/>
        </p:nvGraphicFramePr>
        <p:xfrm>
          <a:off x="8367201" y="3292059"/>
          <a:ext cx="11315700" cy="5657850"/>
        </p:xfrm>
        <a:graphic>
          <a:graphicData uri="http://schemas.openxmlformats.org/presentationml/2006/ole">
            <p:oleObj imgW="13576300" imgH="7924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367201" y="8568055"/>
            <a:ext cx="9809278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Table 2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Multivariable Logistic Regression For Any RBC Transfusion Within 24 Hours Post-Transplant 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3150" y="3257522"/>
            <a:ext cx="6064391" cy="6000778"/>
          </a:xfrm>
          <a:custGeom>
            <a:avLst/>
            <a:gdLst/>
            <a:ahLst/>
            <a:cxnLst/>
            <a:rect r="r" b="b" t="t" l="l"/>
            <a:pathLst>
              <a:path h="6000778" w="6064391">
                <a:moveTo>
                  <a:pt x="0" y="0"/>
                </a:moveTo>
                <a:lnTo>
                  <a:pt x="6064391" y="0"/>
                </a:lnTo>
                <a:lnTo>
                  <a:pt x="6064391" y="6000778"/>
                </a:lnTo>
                <a:lnTo>
                  <a:pt x="0" y="6000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532" y="813420"/>
            <a:ext cx="18243666" cy="176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MODEL 3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MULTIPLE LINEAR REGRESSION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PREDICTORS INFLUENCING RBC TRANSFUSION VOLUME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532" y="3044984"/>
            <a:ext cx="9325380" cy="706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Identified risk factors independently associated with the volume of blood transfusion needed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8 predictor variables tested (same as model 2)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Outcome: Amount of transfusion volume (total_24hr_RBC)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Assessed multicollinearity of predictors using VIF</a:t>
            </a:r>
          </a:p>
          <a:p>
            <a:pPr algn="l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All VIF</a:t>
            </a: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factors were under 1.6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Homoscedasticity, linearity and normality assessments</a:t>
            </a:r>
          </a:p>
          <a:p>
            <a:pPr algn="l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Square root transformation applied based on skewed distribution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123867" y="9519126"/>
            <a:ext cx="7942957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-105">
                <a:solidFill>
                  <a:srgbClr val="000000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Figure 2. </a:t>
            </a:r>
            <a:r>
              <a:rPr lang="en-US" sz="2100" spc="-105">
                <a:solidFill>
                  <a:srgbClr val="000000"/>
                </a:solidFill>
                <a:latin typeface="Object Sans"/>
                <a:ea typeface="Object Sans"/>
                <a:cs typeface="Object Sans"/>
                <a:sym typeface="Object Sans"/>
              </a:rPr>
              <a:t>Q-Q Plot For Transfusion Volume Model (Non-transformed)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050792" y="2868351"/>
          <a:ext cx="9429750" cy="6286500"/>
        </p:xfrm>
        <a:graphic>
          <a:graphicData uri="http://schemas.openxmlformats.org/presentationml/2006/ole">
            <p:oleObj imgW="11315700" imgH="8166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162050"/>
            <a:ext cx="11191445" cy="62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 AND INTERPRETATION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3905" y="9564426"/>
            <a:ext cx="13576298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Table 3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Multiple Linear Regression for Transfusion Volume Model (sqrt-transformed)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54586"/>
            <a:ext cx="15892547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Intercept, transplant type, high risk status, pre-operative Hb and LAS score were statistically significant in this model.</a:t>
            </a:r>
          </a:p>
          <a:p>
            <a:pPr algn="just">
              <a:lnSpc>
                <a:spcPts val="26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14692"/>
            <a:ext cx="16230600" cy="23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WHAT IS THE IMPACT OF TRANSFUSION ON PATIENT OUTCOMES, INCLUDING MORTALITY?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02578"/>
            <a:ext cx="2088803" cy="4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Question 2: 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8778" y="2553877"/>
            <a:ext cx="8500522" cy="6400733"/>
          </a:xfrm>
          <a:custGeom>
            <a:avLst/>
            <a:gdLst/>
            <a:ahLst/>
            <a:cxnLst/>
            <a:rect r="r" b="b" t="t" l="l"/>
            <a:pathLst>
              <a:path h="6400733" w="8500522">
                <a:moveTo>
                  <a:pt x="0" y="0"/>
                </a:moveTo>
                <a:lnTo>
                  <a:pt x="8500522" y="0"/>
                </a:lnTo>
                <a:lnTo>
                  <a:pt x="8500522" y="6400733"/>
                </a:lnTo>
                <a:lnTo>
                  <a:pt x="0" y="6400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532" y="813420"/>
            <a:ext cx="17404726" cy="287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12-MONTH SURVIVAL BY RBC TRANSFUSION LEVEL 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DOES TRANSFUSION VOLUME HARM THE PATIENT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0334" y="3085131"/>
            <a:ext cx="7338772" cy="584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Methods: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Outcome: 12-month mortality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Survival time: OR date → death (censor at 365 days)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KM analys</a:t>
            </a: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is: Transfusion groups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Comparison: Log-rank test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Results: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No significant survival difference (log-rank p = 0.6)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High transfusion (&gt;10 units): 0 deaths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Visible differences likely due to small subgroup sizes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58778" y="8949372"/>
            <a:ext cx="8500522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Figure 3: 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Kaplan-Meier curves stratified by RBC transfusion level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8778" y="2579110"/>
            <a:ext cx="8373006" cy="6304716"/>
          </a:xfrm>
          <a:custGeom>
            <a:avLst/>
            <a:gdLst/>
            <a:ahLst/>
            <a:cxnLst/>
            <a:rect r="r" b="b" t="t" l="l"/>
            <a:pathLst>
              <a:path h="6304716" w="8373006">
                <a:moveTo>
                  <a:pt x="0" y="0"/>
                </a:moveTo>
                <a:lnTo>
                  <a:pt x="8373006" y="0"/>
                </a:lnTo>
                <a:lnTo>
                  <a:pt x="8373006" y="6304716"/>
                </a:lnTo>
                <a:lnTo>
                  <a:pt x="0" y="6304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532" y="813420"/>
            <a:ext cx="17404726" cy="287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FF5757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HAZARD RATIOS FOR 12-MONTH MORTALITY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000000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DOES TRANSFUSION VOLUME HARM THE PATIENT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758778" y="8949372"/>
            <a:ext cx="8500522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Figure 4: 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Hazard Ratios for 12-Month Mortality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60334" y="3085131"/>
            <a:ext cx="7338772" cy="701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Methods: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Exposure: RBC units (continuous)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Covariates: Age, LAS score, high-risk status, gender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Analysis: Complete case (missing LAS excluded)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Diagnost</a:t>
            </a: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ics: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PH assumption → met (global p = 0.93)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Discrimination → C-index = 0.64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Results: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RBC transfusion not associated with mortality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HR = 0.93, p = 0.415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No</a:t>
            </a: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covariates were statistically significant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Results likely limited by low event count (21 deaths)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7532" y="813420"/>
            <a:ext cx="18243666" cy="176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MODEL 2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863A8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MULTIPLE LINEAR REGRESSION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24HR RBC UNITS ON ICU LENGTH OF STAY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2762740"/>
            <a:ext cx="8815908" cy="7380291"/>
            <a:chOff x="0" y="0"/>
            <a:chExt cx="11754544" cy="98403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54544" cy="9394194"/>
            </a:xfrm>
            <a:custGeom>
              <a:avLst/>
              <a:gdLst/>
              <a:ahLst/>
              <a:cxnLst/>
              <a:rect r="r" b="b" t="t" l="l"/>
              <a:pathLst>
                <a:path h="9394194" w="11754544">
                  <a:moveTo>
                    <a:pt x="0" y="0"/>
                  </a:moveTo>
                  <a:lnTo>
                    <a:pt x="11754544" y="0"/>
                  </a:lnTo>
                  <a:lnTo>
                    <a:pt x="11754544" y="9394194"/>
                  </a:lnTo>
                  <a:lnTo>
                    <a:pt x="0" y="9394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9356094"/>
              <a:ext cx="11754544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Figure 5</a:t>
              </a:r>
              <a:r>
                <a:rPr lang="en-US" sz="21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: Observed vs. Predicted ICU LOS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5199" y="3388913"/>
            <a:ext cx="6784851" cy="584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sz="291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METHODS</a:t>
            </a:r>
            <a:r>
              <a:rPr lang="en-US" sz="291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</a:t>
            </a:r>
          </a:p>
          <a:p>
            <a:pPr algn="l" marL="504275" indent="-252137" lvl="1">
              <a:lnSpc>
                <a:spcPts val="4344"/>
              </a:lnSpc>
              <a:buFont typeface="Arial"/>
              <a:buChar char="•"/>
            </a:pPr>
            <a:r>
              <a:rPr lang="en-US" sz="2335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Outcome</a:t>
            </a: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ICU Length of Stay in Days</a:t>
            </a:r>
          </a:p>
          <a:p>
            <a:pPr algn="l" marL="504275" indent="-252137" lvl="1">
              <a:lnSpc>
                <a:spcPts val="4344"/>
              </a:lnSpc>
              <a:buFont typeface="Arial"/>
              <a:buChar char="•"/>
            </a:pPr>
            <a:r>
              <a:rPr lang="en-US" sz="2335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Variable of Interest</a:t>
            </a: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24hr RBC Units</a:t>
            </a:r>
          </a:p>
          <a:p>
            <a:pPr algn="l" marL="504275" indent="-252137" lvl="1">
              <a:lnSpc>
                <a:spcPts val="3199"/>
              </a:lnSpc>
              <a:buFont typeface="Arial"/>
              <a:buChar char="•"/>
            </a:pPr>
            <a:r>
              <a:rPr lang="en-US" sz="2335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Covariates</a:t>
            </a: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</a:t>
            </a:r>
          </a:p>
          <a:p>
            <a:pPr algn="l" marL="1008549" indent="-336183" lvl="2">
              <a:lnSpc>
                <a:spcPts val="3199"/>
              </a:lnSpc>
              <a:buFont typeface="Arial"/>
              <a:buChar char="⚬"/>
            </a:pP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Age, Gender, BMI, High Risk, Baseline Anemia, Baseline Coagulopathy, Transplant Type, </a:t>
            </a:r>
          </a:p>
          <a:p>
            <a:pPr algn="l">
              <a:lnSpc>
                <a:spcPts val="1485"/>
              </a:lnSpc>
            </a:pPr>
            <a:r>
              <a:rPr lang="en-US" sz="1084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</a:t>
            </a:r>
          </a:p>
          <a:p>
            <a:pPr algn="l">
              <a:lnSpc>
                <a:spcPts val="4087"/>
              </a:lnSpc>
            </a:pPr>
            <a:r>
              <a:rPr lang="en-US" sz="291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RESULTS:</a:t>
            </a:r>
          </a:p>
          <a:p>
            <a:pPr algn="l" marL="504275" indent="-252137" lvl="1">
              <a:lnSpc>
                <a:spcPts val="4344"/>
              </a:lnSpc>
              <a:buFont typeface="Arial"/>
              <a:buChar char="•"/>
            </a:pP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SIGNIFICANT MODEL: F(9, 169) = 3.93, P &lt;.001</a:t>
            </a:r>
          </a:p>
          <a:p>
            <a:pPr algn="l" marL="504275" indent="-252137" lvl="1">
              <a:lnSpc>
                <a:spcPts val="4344"/>
              </a:lnSpc>
              <a:buFont typeface="Arial"/>
              <a:buChar char="•"/>
            </a:pP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Adjusted R  : 0.13</a:t>
            </a:r>
          </a:p>
          <a:p>
            <a:pPr algn="l" marL="504275" indent="-252137" lvl="1">
              <a:lnSpc>
                <a:spcPts val="3199"/>
              </a:lnSpc>
              <a:buFont typeface="Arial"/>
              <a:buChar char="•"/>
            </a:pP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</a:t>
            </a:r>
            <a:r>
              <a:rPr lang="en-US" sz="23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ignificant relationship: </a:t>
            </a:r>
          </a:p>
          <a:p>
            <a:pPr algn="l" marL="1008549" indent="-336183" lvl="2">
              <a:lnSpc>
                <a:spcPts val="3199"/>
              </a:lnSpc>
              <a:buFont typeface="Arial"/>
              <a:buChar char="⚬"/>
            </a:pPr>
            <a:r>
              <a:rPr lang="en-US" sz="2335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24hr RBC and ICU 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16710" y="7872555"/>
            <a:ext cx="117570" cy="29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668" spc="-83">
                <a:solidFill>
                  <a:srgbClr val="000000"/>
                </a:solidFill>
                <a:latin typeface="Object Sans"/>
                <a:ea typeface="Object Sans"/>
                <a:cs typeface="Object Sans"/>
                <a:sym typeface="Object Sans"/>
              </a:rPr>
              <a:t>2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164" y="1162050"/>
            <a:ext cx="11191445" cy="62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 AND INTERPRETATION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24122" y="2006632"/>
          <a:ext cx="14839757" cy="7251668"/>
        </p:xfrm>
        <a:graphic>
          <a:graphicData uri="http://schemas.openxmlformats.org/drawingml/2006/table">
            <a:tbl>
              <a:tblPr/>
              <a:tblGrid>
                <a:gridCol w="4554077"/>
                <a:gridCol w="2654150"/>
                <a:gridCol w="3604114"/>
                <a:gridCol w="4027415"/>
              </a:tblGrid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6F4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6F4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Coefficient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6F4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95% CI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6F4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p-</a:t>
                      </a:r>
                      <a:r>
                        <a:rPr lang="en-US" sz="2600">
                          <a:solidFill>
                            <a:srgbClr val="F6F4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</a:tr>
              <a:tr h="7633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RBC Units Over 24hrs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575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0.0806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E101A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[0.429, 1.18]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575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0.0000387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-0.00168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[-0.139, 0.136]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0.981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Gender: Male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0.376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[-3.16, 3.92]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BMI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0.365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[-0.0699, 0.800]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0.0994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Risk: True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[-1.74, 5.75]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0.292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Baseline Anemia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-0.0196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[-0.123, 0.0842]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0.710  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strike="noStrike" u="none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Baseline Coagulopathy: True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2.90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[-1.59, 7.39]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Transplant Type: Bilateral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1.66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[-2.82, 6.13]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0.466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4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LAS 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-0.137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[-0.326, 0.0517]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E101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0.154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80164" y="581025"/>
            <a:ext cx="1824366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spc="-17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MODEL 2: </a:t>
            </a:r>
            <a:r>
              <a:rPr lang="en-US" b="true" sz="3500" spc="-175">
                <a:solidFill>
                  <a:srgbClr val="2863A8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MULTIPLE LINEAR REGRESSION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278" y="783432"/>
            <a:ext cx="11191445" cy="62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CONCLUSION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0" y="51625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163050" y="1407362"/>
            <a:ext cx="19050" cy="81819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1407362"/>
            <a:ext cx="596822" cy="713326"/>
            <a:chOff x="0" y="0"/>
            <a:chExt cx="812800" cy="971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971464"/>
            </a:xfrm>
            <a:custGeom>
              <a:avLst/>
              <a:gdLst/>
              <a:ahLst/>
              <a:cxnLst/>
              <a:rect r="r" b="b" t="t" l="l"/>
              <a:pathLst>
                <a:path h="971464" w="812800">
                  <a:moveTo>
                    <a:pt x="406400" y="0"/>
                  </a:moveTo>
                  <a:cubicBezTo>
                    <a:pt x="181951" y="0"/>
                    <a:pt x="0" y="217470"/>
                    <a:pt x="0" y="485732"/>
                  </a:cubicBezTo>
                  <a:cubicBezTo>
                    <a:pt x="0" y="753995"/>
                    <a:pt x="181951" y="971464"/>
                    <a:pt x="406400" y="971464"/>
                  </a:cubicBezTo>
                  <a:cubicBezTo>
                    <a:pt x="630849" y="971464"/>
                    <a:pt x="812800" y="753995"/>
                    <a:pt x="812800" y="485732"/>
                  </a:cubicBezTo>
                  <a:cubicBezTo>
                    <a:pt x="812800" y="217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3450"/>
              <a:ext cx="660400" cy="83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333333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19047" y="1407362"/>
            <a:ext cx="596822" cy="713326"/>
            <a:chOff x="0" y="0"/>
            <a:chExt cx="812800" cy="971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971464"/>
            </a:xfrm>
            <a:custGeom>
              <a:avLst/>
              <a:gdLst/>
              <a:ahLst/>
              <a:cxnLst/>
              <a:rect r="r" b="b" t="t" l="l"/>
              <a:pathLst>
                <a:path h="971464" w="812800">
                  <a:moveTo>
                    <a:pt x="406400" y="0"/>
                  </a:moveTo>
                  <a:cubicBezTo>
                    <a:pt x="181951" y="0"/>
                    <a:pt x="0" y="217470"/>
                    <a:pt x="0" y="485732"/>
                  </a:cubicBezTo>
                  <a:cubicBezTo>
                    <a:pt x="0" y="753995"/>
                    <a:pt x="181951" y="971464"/>
                    <a:pt x="406400" y="971464"/>
                  </a:cubicBezTo>
                  <a:cubicBezTo>
                    <a:pt x="630849" y="971464"/>
                    <a:pt x="812800" y="753995"/>
                    <a:pt x="812800" y="485732"/>
                  </a:cubicBezTo>
                  <a:cubicBezTo>
                    <a:pt x="812800" y="217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3450"/>
              <a:ext cx="660400" cy="83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333333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407575"/>
            <a:ext cx="596822" cy="713326"/>
            <a:chOff x="0" y="0"/>
            <a:chExt cx="812800" cy="971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971464"/>
            </a:xfrm>
            <a:custGeom>
              <a:avLst/>
              <a:gdLst/>
              <a:ahLst/>
              <a:cxnLst/>
              <a:rect r="r" b="b" t="t" l="l"/>
              <a:pathLst>
                <a:path h="971464" w="812800">
                  <a:moveTo>
                    <a:pt x="406400" y="0"/>
                  </a:moveTo>
                  <a:cubicBezTo>
                    <a:pt x="181951" y="0"/>
                    <a:pt x="0" y="217470"/>
                    <a:pt x="0" y="485732"/>
                  </a:cubicBezTo>
                  <a:cubicBezTo>
                    <a:pt x="0" y="753995"/>
                    <a:pt x="181951" y="971464"/>
                    <a:pt x="406400" y="971464"/>
                  </a:cubicBezTo>
                  <a:cubicBezTo>
                    <a:pt x="630849" y="971464"/>
                    <a:pt x="812800" y="753995"/>
                    <a:pt x="812800" y="485732"/>
                  </a:cubicBezTo>
                  <a:cubicBezTo>
                    <a:pt x="812800" y="217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3450"/>
              <a:ext cx="660400" cy="83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333333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19047" y="5407575"/>
            <a:ext cx="596822" cy="713326"/>
            <a:chOff x="0" y="0"/>
            <a:chExt cx="812800" cy="9714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971464"/>
            </a:xfrm>
            <a:custGeom>
              <a:avLst/>
              <a:gdLst/>
              <a:ahLst/>
              <a:cxnLst/>
              <a:rect r="r" b="b" t="t" l="l"/>
              <a:pathLst>
                <a:path h="971464" w="812800">
                  <a:moveTo>
                    <a:pt x="406400" y="0"/>
                  </a:moveTo>
                  <a:cubicBezTo>
                    <a:pt x="181951" y="0"/>
                    <a:pt x="0" y="217470"/>
                    <a:pt x="0" y="485732"/>
                  </a:cubicBezTo>
                  <a:cubicBezTo>
                    <a:pt x="0" y="753995"/>
                    <a:pt x="181951" y="971464"/>
                    <a:pt x="406400" y="971464"/>
                  </a:cubicBezTo>
                  <a:cubicBezTo>
                    <a:pt x="630849" y="971464"/>
                    <a:pt x="812800" y="753995"/>
                    <a:pt x="812800" y="485732"/>
                  </a:cubicBezTo>
                  <a:cubicBezTo>
                    <a:pt x="812800" y="217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3450"/>
              <a:ext cx="660400" cy="83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333333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25522" y="2192733"/>
            <a:ext cx="6460809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Bilateral Transplant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High-Risk Status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Low Pre-op Hb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93055" y="1591623"/>
            <a:ext cx="680680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KEY PREDICTORS OF TRANSFUSION NEEDS WERE IDENTIFIED.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40438" y="1591623"/>
            <a:ext cx="69005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</a:t>
            </a:r>
            <a:r>
              <a:rPr lang="en-US" b="true" sz="1800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DINGS SUPPORT TARGETED PREOPERATIVE 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251" y="5591836"/>
            <a:ext cx="621841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TRANSFUSION VOLUME WAS PREDICTED BY MORBIDITY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24476" y="5591836"/>
            <a:ext cx="63324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TRANSFUSION VOLUME AFFECTS HOSPITAL RESOURCES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5869" y="2196993"/>
            <a:ext cx="6843431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Correct anemia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Plan for higher blood use in bilateral/high-risk cases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40438" y="6314574"/>
            <a:ext cx="6460809" cy="13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Increased ICU Length of Stay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263776"/>
            <a:ext cx="7753350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</a:t>
            </a:r>
            <a:r>
              <a:rPr lang="en-US" sz="3999" spc="-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ransplant Type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High Risk Status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Pre-operative Hb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LAS Score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0864" y="4374039"/>
            <a:ext cx="10286272" cy="166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spc="-511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THANK YOU</a:t>
            </a:r>
          </a:p>
          <a:p>
            <a:pPr algn="ctr">
              <a:lnSpc>
                <a:spcPts val="6399"/>
              </a:lnSpc>
            </a:pPr>
            <a:r>
              <a:rPr lang="en-US" sz="6399" spc="-511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DAG6MRJ7qNw</dc:identifier>
  <dcterms:modified xsi:type="dcterms:W3CDTF">2011-08-01T06:04:30Z</dcterms:modified>
  <cp:revision>1</cp:revision>
  <dc:title>Data Science II Team Presentation </dc:title>
</cp:coreProperties>
</file>